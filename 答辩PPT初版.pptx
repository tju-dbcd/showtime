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演出活动票务管理平台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D0DBF0"/>
                </a:solidFill>
                <a:latin typeface="微软雅黑" panose="020B0503020204020204" charset="-122"/>
                <a:ea typeface="微软雅黑" panose="020B0503020204020204" charset="-122"/>
              </a:rPr>
              <a:t>SHOWTIME · 项目答辩</a:t>
            </a:r>
            <a:endParaRPr sz="2800" b="0">
              <a:solidFill>
                <a:srgbClr val="D0DB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0CCE0"/>
                </a:solidFill>
                <a:latin typeface="微软雅黑" panose="020B0503020204020204" charset="-122"/>
                <a:ea typeface="微软雅黑" panose="020B0503020204020204" charset="-122"/>
              </a:rPr>
              <a:t>团队：[成员姓名 / 分工]</a:t>
            </a:r>
            <a:endParaRPr sz="1600" b="0">
              <a:solidFill>
                <a:srgbClr val="C0CC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0CCE0"/>
                </a:solidFill>
                <a:latin typeface="微软雅黑" panose="020B0503020204020204" charset="-122"/>
                <a:ea typeface="微软雅黑" panose="020B0503020204020204" charset="-122"/>
              </a:rPr>
              <a:t>指导教师：[姓名]    日期：2026-09</a:t>
            </a:r>
            <a:endParaRPr sz="1600" b="0">
              <a:solidFill>
                <a:srgbClr val="C0CC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01  项目概述与目标</a:t>
            </a:r>
            <a:endParaRPr sz="2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02  需求分析与功能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03  技术选型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04  系统架构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05  数据库设计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06  核心业务流程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07  技术难点与解决方案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08  安全与稳定性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09  测试与部署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10  项目总结与展望</a:t>
            </a:r>
            <a:endParaRPr sz="2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项目概述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背景与目标</a:t>
            </a:r>
            <a:endParaRPr sz="13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背景：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演出票务场景下，座位库存的高并发一致性、退改签规则的灵活性、订单状态的可靠流转是三大核心难题。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打造前后端分离的票务平台，覆盖「注册登录 → 浏览演出 → 选座 → 下单 → 支付 → 电子票 → 退票/改签 → 核销」全链路。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后端：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ASP.NET Core（.NET 10）+ C#，EF Core + Oracle 21c XE。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前端：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React 19 + TypeScript + Vite + Ant Design 6。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规模：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数据库 36 张表 / 4 大模块；核心链路含 Redis 选座锁、事务性 Outbox、RabbitMQ/SignalR 实时通知。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需求分析与功能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核心功能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用户与权限</a:t>
                      </a:r>
                      <a:endParaRPr sz="15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注册登录（JWT）、RBAC 角色权限、实名认证、会话安全、操作日志</a:t>
                      </a:r>
                      <a:endParaRPr sz="15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演出与场次</a:t>
                      </a:r>
                      <a:endParaRPr sz="15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演出发布审核、分类标签、场次生成、动态调价、限购</a:t>
                      </a:r>
                      <a:endParaRPr sz="15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座位管理</a:t>
                      </a:r>
                      <a:endParaRPr sz="15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可视化座位图、分区/座位、选座锁（防超卖）</a:t>
                      </a:r>
                      <a:endParaRPr sz="15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订单票务</a:t>
                      </a:r>
                      <a:endParaRPr sz="15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下单、支付、退票/改签策略引擎、电子票防伪、核销</a:t>
                      </a:r>
                      <a:endParaRPr sz="15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技术选型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384048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层次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选型理由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ASP.NET Core 10 + C#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API、依赖注入、后台服务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EF Core + Oracle 驱动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强类型、迁移可控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Oracle 21c XE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课程指定，事务/唯一索引/行级锁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React 19 + TS + AntD 6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组件化、类型安全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实时通知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SignalR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订单/退款状态实时推送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消息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RabbitMQ（可降级进程内）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异步解耦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Redis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选座锁前置互斥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对象存储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阿里云 OSS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图片统一存储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前后端分离 + 后端模块化单体，关键路径可降级</a:t>
            </a:r>
            <a:endParaRPr sz="13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6400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用户 / 管理员</a:t>
            </a:r>
            <a:endParaRPr sz="15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0" y="21945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4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2578608"/>
            <a:ext cx="640080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7004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React Web（用户端 + 管理端）</a:t>
            </a:r>
            <a:endParaRPr sz="15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0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4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28800" y="3602736"/>
            <a:ext cx="6400800" cy="658368"/>
          </a:xfrm>
          <a:prstGeom prst="rect">
            <a:avLst/>
          </a:prstGeom>
          <a:solidFill>
            <a:srgbClr val="2E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69417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ASP.NET Core 10（Auth · Show · Session · Seat · Order · Payment）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0" y="424281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4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28800" y="4626864"/>
            <a:ext cx="6400800" cy="6583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71830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Oracle 21c（业务数据）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78240" y="2578608"/>
            <a:ext cx="2743200" cy="658368"/>
          </a:xfrm>
          <a:prstGeom prst="rect">
            <a:avLst/>
          </a:prstGeom>
          <a:solidFill>
            <a:srgbClr val="8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67004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Redis（选座锁）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8240" y="3602736"/>
            <a:ext cx="2743200" cy="658368"/>
          </a:xfrm>
          <a:prstGeom prst="rect">
            <a:avLst/>
          </a:prstGeom>
          <a:solidFill>
            <a:srgbClr val="8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Outbox → RabbitMQ → SignalR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36 张表 / 4 大模块，统一 APP_OWNER Schema</a:t>
            </a:r>
            <a:endParaRPr sz="13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1097280"/>
                <a:gridCol w="7589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代表表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用户权限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SYS_USER、ROLE、PERMISSION、USER_SESSION、OPERATION_LOG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演出场次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SHOW、SHOW_SESSION、PRICE_STRATEGY、DYNAMIC_PRICING_RULE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座位区域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SEAT_MAP、SEAT_SECTION、SEAT、SEAT_LOCK、SEAT_RESERVATION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订单票务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T_ORDER、ORDER_ITEM、PAYMENT、E_TICKET、REFUND/EXCHANGE 及 POLICY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状态统一用 CHECK 约束 + 枚举对齐；变更走 db/migrations/（8 个迁移脚本）。</a:t>
            </a:r>
            <a:endParaRPr sz="15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[补充] 在此插入 ER 图（doc/Relational_1.svg）。</a:t>
            </a:r>
            <a:endParaRPr sz="15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核心业务流程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</a:rPr>
              <a:t>下单全链路</a:t>
            </a:r>
            <a:endParaRPr sz="1300" b="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7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锁座：</a:t>
            </a:r>
            <a:r>
              <a:rPr sz="17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Redis SET NX PX 快速互斥，DB 唯一索引兜底。</a:t>
            </a:r>
            <a:endParaRPr sz="17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7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下单：</a:t>
            </a:r>
            <a:r>
              <a:rPr sz="17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锁转正式占座（ACTIVE→CONVERTED）+ 订单 + 座位预约 + Outbox 事件，同一事务提交。</a:t>
            </a:r>
            <a:endParaRPr sz="17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7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支付出票：</a:t>
            </a:r>
            <a:r>
              <a:rPr sz="17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支付成功与生成电子票（二维码 + 防伪码）同事务，订单 PENDING_PAY→ISSUED。</a:t>
            </a:r>
            <a:endParaRPr sz="17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7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通知：</a:t>
            </a:r>
            <a:r>
              <a:rPr sz="17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Outbox Worker 发布 → RabbitMQ → 消费者 → SignalR 推前端。</a:t>
            </a:r>
            <a:endParaRPr sz="17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选座锁座 → 提交订单 → 支付 → 出票 → 通知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技术难点一：选座锁防超卖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问题：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多个用户同时抢同一座位，如何保证不超卖且高可用？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Redis 前置互斥：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SET NX PX（锁粒度「座位×场次」，TTL=锁期），value=LockToken。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Oracle 唯一索引兜底：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UK_SEAT_LOCK_ACTIVE 是并发仲裁真相源，抢输方回滚 Redis 并返回 409。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降级：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Redis 异常自动切纯 Oracle 流程，购票不中断；Redis:SeatLockGuardEnabled 一键 kill-switch。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Redis 只是加速层，正确性永远由 DB 保证。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技术难点二：事务性 Outbox + 消息通知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问题：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下单成功后如何可靠异步通知前端，又保证「DB 事务」与「消息发送」一致？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事务性 Outbox：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订单/退款事件与业务数据同一事务写入 ORDER_EVENT_OUTBOX。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后台 Worker：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轮询发布（租约防多实例重复、指数退避重试、超限转 FAILED 终态）。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RabbitMQ 可降级：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Enabled=false 时用进程内 LocalOrderEventPublisher，仍走同一 Handler → SignalR 推送。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避免「双写」不一致；MQ 挂了不影响业务主链路。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技术难点三：退票/改签策略引擎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问题：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退票费率/改签费随「距开演时间」变化，规则要可配置、可扩展。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规则表：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REFUND_POLICY / EXCHANGE_POLICY 存截止小时、费率、服务费、优先级、作用范围。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策略引擎：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按 PRIORITY 匹配（支持单演出覆盖全局默认），计算退票/改签报价。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审核工作流：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申请（冻结明细 REFUNDING）→ 管理员审核 → 异步执行退款 → 订单流转 REFUNDED / PART_REFUND。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规则配置化，新增政策无需改代码。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技术难点四：订单状态机 + 幂等 + 并发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状态机：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PENDING_PAY → ISSUED（支付+出票同事务）；PENDING_PAY → CANCELLED（超时/取消）；ISSUED → REFUNDED / PART_REFUND。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幂等：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Idempotency-Key 请求头 + 请求摘要，防止重复下单/重复支付（IGNORE NULL 函数唯一索引）。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并发控制：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悲观锁（RefundLockCoordinator / ExchangeLockProtocol）+ 乐观并发（ExecuteUpdate 条件更新）。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唯一索引 + DbUpdateConcurrencyException，冲突返回明确业务错误码。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安全与稳定性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JWT + Refresh Token 轮换（旧 Token 重用即锁会话）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单活会话、异地/IP 变化标记风险、踢出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授权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RBAC（角色-权限），管理端 [Authorize(Roles=Admin)]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限流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固定窗口（登录 5/min、注册 3/min、认证 120/min 等）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电子票防伪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二维码 + HMAC 签名防伪码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操作日志（Serilog）+ 订单/退款审计 Sink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文件安全</a:t>
                      </a:r>
                      <a:endParaRPr sz="1300" b="1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扩展名白名单 + Content-Type 校验 + 5MB 上限 + 防路径穿越</a:t>
                      </a:r>
                      <a:endParaRPr sz="1300" b="0">
                        <a:solidFill>
                          <a:srgbClr val="2D2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测试与部署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单元测试：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backend.Tests（xUnit，SQLite 内存库 + fake 注入），覆盖订单/退款/改签/锁座并发。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E2E：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Playwright（frontend/tests）全量 mock /api/**，覆盖注册→登录→选座→下单链路。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CI：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GitHub Actions（build + lint + test）。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部署：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迁移脚本（baseline + migrations，DEPLOY_USER 执行 DDL）；环境配置分离；Redis docker-compose 一键拉起。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[补充]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：CI 截图 / 覆盖率数字 / 压测数据。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成果：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跑通「选座 → 下单 → 支付 → 出票 → 退改签 → 核销」完整业务闭环；36 表建模 + 8 个增量迁移；后端分层清晰、单测覆盖核心并发场景。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亮点一：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选座锁「Redis 加速 + DB 兜底」双通道防超卖。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亮点二：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事务性 Outbox + RabbitMQ/SignalR 可靠实时通知。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亮点三：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退票/改签策略引擎配置化。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亮点四：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订单状态机 + 幂等 + 并发控制三位一体。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8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遗留问题：</a:t>
            </a:r>
            <a:r>
              <a:rPr sz="18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订单智能拆单/合并未实现；RabbitMQ 深度压测与监控看板待补。</a:t>
            </a:r>
            <a:endParaRPr sz="18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463040" cy="381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订单拆单/合并（同场次多座位自动合并）。</a:t>
            </a:r>
            <a:endParaRPr sz="1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引入 RabbitMQ 全量异步（下单成功/退款完成 → 通知）并压测验证。</a:t>
            </a:r>
            <a:endParaRPr sz="1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接入 Loki + Grafana 日志监控、JMeter 压测与安全测试（OWASP）。</a:t>
            </a:r>
            <a:endParaRPr sz="1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</a:rPr>
              <a:t>管理端可视化座位图编辑器完善。</a:t>
            </a:r>
            <a:endParaRPr sz="1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0DBF0"/>
                </a:solidFill>
                <a:latin typeface="微软雅黑" panose="020B0503020204020204" charset="-122"/>
                <a:ea typeface="微软雅黑" panose="020B0503020204020204" charset="-122"/>
              </a:rPr>
              <a:t>欢迎各位老师、同学提问交流</a:t>
            </a:r>
            <a:endParaRPr sz="2200" b="0">
              <a:solidFill>
                <a:srgbClr val="D0DB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338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endParaRPr sz="1400" b="0">
              <a:solidFill>
                <a:srgbClr val="C0CC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3659</Words>
  <Application>WPS 演示</Application>
  <PresentationFormat>On-screen Show (4:3)</PresentationFormat>
  <Paragraphs>271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Always Sunny</cp:lastModifiedBy>
  <cp:revision>2</cp:revision>
  <dcterms:created xsi:type="dcterms:W3CDTF">2013-01-27T09:14:00Z</dcterms:created>
  <dcterms:modified xsi:type="dcterms:W3CDTF">2026-09-06T16:17:55Z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26A31A979F0F4D459765A04490449ADA_12</vt:lpwstr>
  </property>
  <property fmtid="{D5CDD505-2E9C-101B-9397-08002B2CF9AE}" pid="3" name="KSOProductBuildVer">
    <vt:lpwstr>2052-12.1.0.28043</vt:lpwstr>
  </property>
</Properties>
</file>